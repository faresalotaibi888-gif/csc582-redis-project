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07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D77D4A-2AAB-C104-8440-C2BC759AC1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63187" y="4927600"/>
            <a:ext cx="843026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Restricted - مقيد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04976" y="1235422"/>
            <a:ext cx="3334048" cy="274290"/>
          </a:xfrm>
          <a:prstGeom prst="roundRect">
            <a:avLst>
              <a:gd name="adj" fmla="val 6945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65946" y="1292572"/>
            <a:ext cx="301210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CSC582 • DATA WAREHOUSE AND MINING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76354" y="1852612"/>
            <a:ext cx="719129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to Key-Value Database Migration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929473" y="2462213"/>
            <a:ext cx="328505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spcAft>
                <a:spcPts val="1875"/>
              </a:spcAft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Database with Redis Cluster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91000" y="3092648"/>
            <a:ext cx="762000" cy="28575"/>
          </a:xfrm>
          <a:prstGeom prst="roundRect">
            <a:avLst>
              <a:gd name="adj" fmla="val 66667"/>
            </a:avLst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33402" y="3511748"/>
            <a:ext cx="3277195" cy="396180"/>
          </a:xfrm>
          <a:prstGeom prst="roundRect">
            <a:avLst>
              <a:gd name="adj" fmla="val 1923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43518" y="3616523"/>
            <a:ext cx="28569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cs typeface="Courier New" pitchFamily="34" charset="-120"/>
              </a:rPr>
              <a:t>Name: Fares Alotaibi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57213"/>
            <a:ext cx="8382000" cy="0"/>
          </a:xfrm>
          <a:prstGeom prst="line">
            <a:avLst/>
          </a:prstGeom>
          <a:noFill/>
          <a:ln w="285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Implementation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14661"/>
            <a:ext cx="4095750" cy="638026"/>
          </a:xfrm>
          <a:prstGeom prst="roundRect">
            <a:avLst>
              <a:gd name="adj" fmla="val 89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814661"/>
            <a:ext cx="0" cy="63802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52450" y="1948011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Mapping Strategy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217274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TableName:TupleID:Attribute format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566988"/>
            <a:ext cx="4095750" cy="638026"/>
          </a:xfrm>
          <a:prstGeom prst="roundRect">
            <a:avLst>
              <a:gd name="adj" fmla="val 89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0050" y="2566988"/>
            <a:ext cx="0" cy="63802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2450" y="2700338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Sharding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2450" y="292506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CRC16 hash, 16384 slots, 4 masters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81000" y="3319314"/>
            <a:ext cx="4095750" cy="638026"/>
          </a:xfrm>
          <a:prstGeom prst="roundRect">
            <a:avLst>
              <a:gd name="adj" fmla="val 89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3319314"/>
            <a:ext cx="0" cy="63802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2450" y="3452664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Replication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2450" y="36773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replicas, write master read replica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667250" y="1814661"/>
            <a:ext cx="4095750" cy="638026"/>
          </a:xfrm>
          <a:prstGeom prst="roundRect">
            <a:avLst>
              <a:gd name="adj" fmla="val 89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86300" y="1814661"/>
            <a:ext cx="0" cy="63802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8700" y="1948011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Key-Value Queries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38700" y="2172742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by Key, Pattern matching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67250" y="2566988"/>
            <a:ext cx="4095750" cy="638026"/>
          </a:xfrm>
          <a:prstGeom prst="roundRect">
            <a:avLst>
              <a:gd name="adj" fmla="val 89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86300" y="2566988"/>
            <a:ext cx="0" cy="63802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8700" y="2700338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Presentation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8700" y="2925068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report with diagrams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3319314"/>
            <a:ext cx="4095750" cy="638026"/>
          </a:xfrm>
          <a:prstGeom prst="roundRect">
            <a:avLst>
              <a:gd name="adj" fmla="val 89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86300" y="3319314"/>
            <a:ext cx="0" cy="638026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38700" y="3452664"/>
            <a:ext cx="38667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Live Demo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38700" y="3677394"/>
            <a:ext cx="38667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Google Colab notebook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557213"/>
            <a:ext cx="8382000" cy="0"/>
          </a:xfrm>
          <a:prstGeom prst="line">
            <a:avLst/>
          </a:prstGeom>
          <a:noFill/>
          <a:ln w="28575">
            <a:solidFill>
              <a:srgbClr val="2C52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and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843941"/>
            <a:ext cx="206940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333375" y="1155799"/>
            <a:ext cx="4048125" cy="132665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140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DB: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SQLite</a:t>
            </a:r>
            <a:endParaRPr lang="en-US" sz="900" dirty="0"/>
          </a:p>
          <a:p>
            <a:pPr marL="95250" indent="-95250" algn="l">
              <a:lnSpc>
                <a:spcPts val="140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Key-Value Store: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Redis</a:t>
            </a:r>
            <a:endParaRPr lang="en-US" sz="900" dirty="0"/>
          </a:p>
          <a:p>
            <a:pPr marL="95250" indent="-95250" algn="l">
              <a:lnSpc>
                <a:spcPts val="140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</a:t>
            </a:r>
            <a:endParaRPr lang="en-US" sz="900" dirty="0"/>
          </a:p>
          <a:p>
            <a:pPr marL="95250" indent="-95250" algn="l">
              <a:lnSpc>
                <a:spcPts val="140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Colab</a:t>
            </a:r>
            <a:endParaRPr lang="en-US" sz="900" dirty="0"/>
          </a:p>
          <a:p>
            <a:pPr marL="95250" indent="-95250" algn="l">
              <a:lnSpc>
                <a:spcPts val="1400"/>
              </a:lnSpc>
              <a:spcAft>
                <a:spcPts val="450"/>
              </a:spcAft>
              <a:buSzPct val="100000"/>
              <a:buChar char="•"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Report:</a:t>
            </a: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ReportLab PDF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14875" y="782933"/>
            <a:ext cx="2069402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Statistics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4714875" y="1189234"/>
            <a:ext cx="940594" cy="622846"/>
          </a:xfrm>
          <a:prstGeom prst="roundRect">
            <a:avLst>
              <a:gd name="adj" fmla="val 9176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02624" y="1284484"/>
            <a:ext cx="76509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802624" y="1596874"/>
            <a:ext cx="765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5750719" y="1189234"/>
            <a:ext cx="940594" cy="622846"/>
          </a:xfrm>
          <a:prstGeom prst="roundRect">
            <a:avLst>
              <a:gd name="adj" fmla="val 9176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38468" y="1284484"/>
            <a:ext cx="76509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838468" y="1596874"/>
            <a:ext cx="765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786563" y="1189234"/>
            <a:ext cx="940594" cy="622846"/>
          </a:xfrm>
          <a:prstGeom prst="roundRect">
            <a:avLst>
              <a:gd name="adj" fmla="val 9176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74312" y="1284484"/>
            <a:ext cx="76509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874312" y="1596874"/>
            <a:ext cx="765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7822406" y="1189234"/>
            <a:ext cx="940594" cy="622846"/>
          </a:xfrm>
          <a:prstGeom prst="roundRect">
            <a:avLst>
              <a:gd name="adj" fmla="val 9176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10155" y="1284484"/>
            <a:ext cx="76509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910155" y="1596874"/>
            <a:ext cx="76509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4714875" y="2078780"/>
            <a:ext cx="4048125" cy="323850"/>
          </a:xfrm>
          <a:prstGeom prst="roundRect">
            <a:avLst>
              <a:gd name="adj" fmla="val 17647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1549" y="2174030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Masters + 4 Replicas</a:t>
            </a:r>
            <a:endParaRPr lang="en-US" sz="750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5218D22-D4ED-237F-DCDF-1180E7D1C5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975375"/>
              </p:ext>
            </p:extLst>
          </p:nvPr>
        </p:nvGraphicFramePr>
        <p:xfrm>
          <a:off x="381000" y="2617127"/>
          <a:ext cx="3041250" cy="2461500"/>
        </p:xfrm>
        <a:graphic>
          <a:graphicData uri="http://schemas.openxmlformats.org/drawingml/2006/table">
            <a:tbl>
              <a:tblPr/>
              <a:tblGrid>
                <a:gridCol w="1520625">
                  <a:extLst>
                    <a:ext uri="{9D8B030D-6E8A-4147-A177-3AD203B41FA5}">
                      <a16:colId xmlns:a16="http://schemas.microsoft.com/office/drawing/2014/main" val="799688291"/>
                    </a:ext>
                  </a:extLst>
                </a:gridCol>
                <a:gridCol w="1520625">
                  <a:extLst>
                    <a:ext uri="{9D8B030D-6E8A-4147-A177-3AD203B41FA5}">
                      <a16:colId xmlns:a16="http://schemas.microsoft.com/office/drawing/2014/main" val="432904856"/>
                    </a:ext>
                  </a:extLst>
                </a:gridCol>
              </a:tblGrid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Port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Node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118737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7000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Master 0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185132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7001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Master 1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291452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7002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Master 2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062643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7003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Master 3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470396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7004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Replica 0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578713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7005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Replica 1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888725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7006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Replica 2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406395"/>
                  </a:ext>
                </a:extLst>
              </a:tr>
              <a:tr h="252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7007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Replica 3</a:t>
                      </a:r>
                    </a:p>
                  </a:txBody>
                  <a:tcPr marL="90620" marR="90620" marT="45310" marB="453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3934724"/>
                  </a:ext>
                </a:extLst>
              </a:tr>
            </a:tbl>
          </a:graphicData>
        </a:graphic>
      </p:graphicFrame>
      <p:sp>
        <p:nvSpPr>
          <p:cNvPr id="24" name="Rectangle 2">
            <a:extLst>
              <a:ext uri="{FF2B5EF4-FFF2-40B4-BE49-F238E27FC236}">
                <a16:creationId xmlns:a16="http://schemas.microsoft.com/office/drawing/2014/main" id="{ADA3A4D9-CB46-D69F-C041-9819E3D38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2421591"/>
            <a:ext cx="123371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Reference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6C1185-C53C-2839-2483-445F8EA1D237}"/>
              </a:ext>
            </a:extLst>
          </p:cNvPr>
          <p:cNvSpPr txBox="1"/>
          <p:nvPr/>
        </p:nvSpPr>
        <p:spPr>
          <a:xfrm>
            <a:off x="4111517" y="3331813"/>
            <a:ext cx="48139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simulate cluster behavior using Python to route keys to the correct master. In a production Redis Cluster, we would use </a:t>
            </a:r>
            <a:r>
              <a:rPr lang="en-US" dirty="0">
                <a:latin typeface="Courier New" panose="02070309020205020404" pitchFamily="49" charset="0"/>
              </a:rPr>
              <a:t>--cluster-enabled yes</a:t>
            </a:r>
            <a:r>
              <a:rPr lang="en-US" dirty="0"/>
              <a:t> and the </a:t>
            </a:r>
            <a:r>
              <a:rPr lang="en-US" dirty="0">
                <a:latin typeface="Courier New" panose="02070309020205020404" pitchFamily="49" charset="0"/>
              </a:rPr>
              <a:t>-c</a:t>
            </a:r>
            <a:r>
              <a:rPr lang="en-US" dirty="0"/>
              <a:t> flag for automatic redirection.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On-screen Show (16:9)</PresentationFormat>
  <Paragraphs>57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CSC582 Redis Project</dc:title>
  <dc:subject>Relational to Key-Value Database Migration</dc:subject>
  <dc:creator>CSC582 Student</dc:creator>
  <cp:lastModifiedBy>Otaibi, Fares A</cp:lastModifiedBy>
  <cp:revision>2</cp:revision>
  <dcterms:created xsi:type="dcterms:W3CDTF">2025-12-06T11:41:36Z</dcterms:created>
  <dcterms:modified xsi:type="dcterms:W3CDTF">2025-12-06T11:56:33Z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662555-8342-48a1-91df-60b8ada0890e_Enabled">
    <vt:lpwstr>true</vt:lpwstr>
  </property>
  <property fmtid="{D5CDD505-2E9C-101B-9397-08002B2CF9AE}" pid="3" name="MSIP_Label_3c662555-8342-48a1-91df-60b8ada0890e_SetDate">
    <vt:lpwstr>2025-12-06T11:55:38Z</vt:lpwstr>
  </property>
  <property fmtid="{D5CDD505-2E9C-101B-9397-08002B2CF9AE}" pid="4" name="MSIP_Label_3c662555-8342-48a1-91df-60b8ada0890e_Method">
    <vt:lpwstr>Standard</vt:lpwstr>
  </property>
  <property fmtid="{D5CDD505-2E9C-101B-9397-08002B2CF9AE}" pid="5" name="MSIP_Label_3c662555-8342-48a1-91df-60b8ada0890e_Name">
    <vt:lpwstr>مقيد - Restricted</vt:lpwstr>
  </property>
  <property fmtid="{D5CDD505-2E9C-101B-9397-08002B2CF9AE}" pid="6" name="MSIP_Label_3c662555-8342-48a1-91df-60b8ada0890e_SiteId">
    <vt:lpwstr>cee277c8-9ceb-4b05-95ef-59d45630412c</vt:lpwstr>
  </property>
  <property fmtid="{D5CDD505-2E9C-101B-9397-08002B2CF9AE}" pid="7" name="MSIP_Label_3c662555-8342-48a1-91df-60b8ada0890e_ActionId">
    <vt:lpwstr>54cf9c52-7c48-4f7d-b658-2115f0bf6a95</vt:lpwstr>
  </property>
  <property fmtid="{D5CDD505-2E9C-101B-9397-08002B2CF9AE}" pid="8" name="MSIP_Label_3c662555-8342-48a1-91df-60b8ada0890e_ContentBits">
    <vt:lpwstr>2</vt:lpwstr>
  </property>
  <property fmtid="{D5CDD505-2E9C-101B-9397-08002B2CF9AE}" pid="9" name="MSIP_Label_3c662555-8342-48a1-91df-60b8ada0890e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Restricted - مقيد</vt:lpwstr>
  </property>
</Properties>
</file>